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0" r:id="rId4"/>
    <p:sldId id="258" r:id="rId5"/>
    <p:sldId id="259" r:id="rId6"/>
    <p:sldId id="271" r:id="rId7"/>
    <p:sldId id="261" r:id="rId8"/>
    <p:sldId id="260" r:id="rId9"/>
    <p:sldId id="262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792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sleek_futuristic_abstract_technology_background_batc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086" y="-578957"/>
            <a:ext cx="12213781" cy="744689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50044" y="-546654"/>
            <a:ext cx="6675120" cy="7404653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0584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3200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chemeClr val="bg1"/>
                </a:solidFill>
                <a:latin typeface="Calibri"/>
              </a:rPr>
              <a:t>WORKSHOP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3949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  <a:latin typeface="Calibri"/>
              </a:rPr>
              <a:t>NFT + DAO Architecture
for Real-World
Information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383280"/>
            <a:ext cx="55778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b="0" dirty="0">
                <a:solidFill>
                  <a:schemeClr val="bg1"/>
                </a:solidFill>
                <a:latin typeface="Calibri"/>
              </a:rPr>
              <a:t>A decentralized architecture integrating NFT-based digital assets</a:t>
            </a:r>
            <a:r>
              <a:rPr lang="en-GB" b="0" dirty="0">
                <a:solidFill>
                  <a:schemeClr val="bg1"/>
                </a:solidFill>
                <a:latin typeface="Calibri"/>
              </a:rPr>
              <a:t> </a:t>
            </a:r>
            <a:r>
              <a:rPr b="0" dirty="0">
                <a:solidFill>
                  <a:schemeClr val="bg1"/>
                </a:solidFill>
                <a:latin typeface="Calibri"/>
              </a:rPr>
              <a:t>and DAO governance into usable information systems.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892040"/>
            <a:ext cx="5577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chemeClr val="bg1"/>
                </a:solidFill>
                <a:latin typeface="Calibri"/>
              </a:rPr>
              <a:t>Asif Saeed · Marco Cipriani · Massimiliano </a:t>
            </a:r>
            <a:r>
              <a:rPr sz="1800" b="1" dirty="0" err="1">
                <a:solidFill>
                  <a:schemeClr val="bg1"/>
                </a:solidFill>
                <a:latin typeface="Calibri"/>
              </a:rPr>
              <a:t>Nibid</a:t>
            </a:r>
            <a:endParaRPr sz="18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928" y="5161695"/>
            <a:ext cx="57607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chemeClr val="bg1"/>
                </a:solidFill>
                <a:latin typeface="Calibri"/>
              </a:rPr>
              <a:t>DISIM, </a:t>
            </a:r>
            <a:r>
              <a:rPr sz="1400" b="0" dirty="0" err="1">
                <a:solidFill>
                  <a:schemeClr val="bg1"/>
                </a:solidFill>
                <a:latin typeface="Calibri"/>
              </a:rPr>
              <a:t>Università</a:t>
            </a:r>
            <a:r>
              <a:rPr sz="1400" b="0" dirty="0">
                <a:solidFill>
                  <a:schemeClr val="bg1"/>
                </a:solidFill>
                <a:latin typeface="Calibri"/>
              </a:rPr>
              <a:t> </a:t>
            </a:r>
            <a:r>
              <a:rPr sz="1400" b="0" dirty="0" err="1">
                <a:solidFill>
                  <a:schemeClr val="bg1"/>
                </a:solidFill>
                <a:latin typeface="Calibri"/>
              </a:rPr>
              <a:t>degli</a:t>
            </a:r>
            <a:r>
              <a:rPr sz="1400" b="0" dirty="0">
                <a:solidFill>
                  <a:schemeClr val="bg1"/>
                </a:solidFill>
                <a:latin typeface="Calibri"/>
              </a:rPr>
              <a:t> </a:t>
            </a:r>
            <a:r>
              <a:rPr sz="1400" b="0" dirty="0" err="1">
                <a:solidFill>
                  <a:schemeClr val="bg1"/>
                </a:solidFill>
                <a:latin typeface="Calibri"/>
              </a:rPr>
              <a:t>Studi</a:t>
            </a:r>
            <a:r>
              <a:rPr sz="1400" b="0" dirty="0">
                <a:solidFill>
                  <a:schemeClr val="bg1"/>
                </a:solidFill>
                <a:latin typeface="Calibri"/>
              </a:rPr>
              <a:t> </a:t>
            </a:r>
            <a:r>
              <a:rPr sz="1400" b="0" dirty="0" err="1">
                <a:solidFill>
                  <a:schemeClr val="bg1"/>
                </a:solidFill>
                <a:latin typeface="Calibri"/>
              </a:rPr>
              <a:t>dell’Aquila</a:t>
            </a:r>
            <a:r>
              <a:rPr sz="1400" b="0" dirty="0">
                <a:solidFill>
                  <a:schemeClr val="bg1"/>
                </a:solidFill>
                <a:latin typeface="Calibri"/>
              </a:rPr>
              <a:t> · BCC Studio </a:t>
            </a:r>
            <a:r>
              <a:rPr sz="1400" b="0" dirty="0" err="1">
                <a:solidFill>
                  <a:schemeClr val="bg1"/>
                </a:solidFill>
                <a:latin typeface="Calibri"/>
              </a:rPr>
              <a:t>S.r.l</a:t>
            </a:r>
            <a:r>
              <a:rPr sz="1400" b="0" dirty="0">
                <a:solidFill>
                  <a:schemeClr val="bg1"/>
                </a:solidFill>
                <a:latin typeface="Calibri"/>
              </a:rPr>
              <a:t>.</a:t>
            </a:r>
            <a:br>
              <a:rPr lang="en-GB" sz="1400" b="0" dirty="0">
                <a:solidFill>
                  <a:schemeClr val="bg1"/>
                </a:solidFill>
                <a:latin typeface="Calibri"/>
              </a:rPr>
            </a:br>
            <a:br>
              <a:rPr lang="en-GB" sz="1400" b="0" dirty="0">
                <a:solidFill>
                  <a:schemeClr val="bg1"/>
                </a:solidFill>
                <a:latin typeface="Calibri"/>
              </a:rPr>
            </a:br>
            <a:br>
              <a:rPr lang="en-GB" sz="1400" b="0" dirty="0">
                <a:solidFill>
                  <a:schemeClr val="bg1"/>
                </a:solidFill>
                <a:latin typeface="Calibri"/>
              </a:rPr>
            </a:br>
            <a:r>
              <a:rPr lang="en-GB" sz="1400" b="0" dirty="0">
                <a:solidFill>
                  <a:schemeClr val="bg1"/>
                </a:solidFill>
                <a:latin typeface="Calibri"/>
              </a:rPr>
              <a:t>Supervisor: Prof. </a:t>
            </a:r>
            <a:r>
              <a:rPr lang="en-GB" sz="1400" dirty="0">
                <a:solidFill>
                  <a:schemeClr val="bg1"/>
                </a:solidFill>
                <a:latin typeface="Calibri"/>
              </a:rPr>
              <a:t>Giovanni De Gasperis</a:t>
            </a:r>
          </a:p>
          <a:p>
            <a:br>
              <a:rPr lang="en-GB" sz="1400" dirty="0">
                <a:solidFill>
                  <a:schemeClr val="bg1"/>
                </a:solidFill>
              </a:rPr>
            </a:br>
            <a:endParaRPr sz="1400" b="0" dirty="0">
              <a:solidFill>
                <a:schemeClr val="bg1"/>
              </a:solidFill>
              <a:latin typeface="Calibri"/>
            </a:endParaRPr>
          </a:p>
        </p:txBody>
      </p:sp>
      <p:pic>
        <p:nvPicPr>
          <p:cNvPr id="22" name="Google Shape;90;p1">
            <a:extLst>
              <a:ext uri="{FF2B5EF4-FFF2-40B4-BE49-F238E27FC236}">
                <a16:creationId xmlns:a16="http://schemas.microsoft.com/office/drawing/2014/main" id="{F6022406-8A94-4FDD-B92C-8EF3842D967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0577" r="30397" b="13074"/>
          <a:stretch/>
        </p:blipFill>
        <p:spPr>
          <a:xfrm>
            <a:off x="7534332" y="709308"/>
            <a:ext cx="1692345" cy="1415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Picture 23" descr="&#10;">
            <a:extLst>
              <a:ext uri="{FF2B5EF4-FFF2-40B4-BE49-F238E27FC236}">
                <a16:creationId xmlns:a16="http://schemas.microsoft.com/office/drawing/2014/main" id="{CEE40D3A-2833-4C8E-85C5-E548F2BEF94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r="42379"/>
          <a:stretch/>
        </p:blipFill>
        <p:spPr>
          <a:xfrm>
            <a:off x="7534332" y="2040630"/>
            <a:ext cx="1692345" cy="1624201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D9E668B3-FB91-45F8-8632-81195850C528}"/>
              </a:ext>
            </a:extLst>
          </p:cNvPr>
          <p:cNvSpPr txBox="1"/>
          <p:nvPr/>
        </p:nvSpPr>
        <p:spPr>
          <a:xfrm>
            <a:off x="9226677" y="2220357"/>
            <a:ext cx="278640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chemeClr val="bg1"/>
                </a:solidFill>
              </a:rPr>
              <a:t>DISIM</a:t>
            </a:r>
            <a:br>
              <a:rPr lang="en-GB" sz="1600" b="1" dirty="0">
                <a:solidFill>
                  <a:schemeClr val="bg1"/>
                </a:solidFill>
              </a:rPr>
            </a:br>
            <a:r>
              <a:rPr lang="en-GB" sz="1600" b="1" dirty="0">
                <a:solidFill>
                  <a:schemeClr val="bg1"/>
                </a:solidFill>
              </a:rPr>
              <a:t>Department of Information Engineering,</a:t>
            </a:r>
            <a:br>
              <a:rPr lang="en-GB" sz="1600" b="1" dirty="0">
                <a:solidFill>
                  <a:schemeClr val="bg1"/>
                </a:solidFill>
              </a:rPr>
            </a:br>
            <a:r>
              <a:rPr lang="en-GB" sz="1600" b="1" dirty="0">
                <a:solidFill>
                  <a:schemeClr val="bg1"/>
                </a:solidFill>
              </a:rPr>
              <a:t>Computer Science and Mathematics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C9D3647-04A4-457E-8FCE-AFF9D9C9EA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4332" y="3639351"/>
            <a:ext cx="4243067" cy="1323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A43AF3FC-7E57-41FF-920D-6DFC3CB62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3202" y="1041269"/>
            <a:ext cx="255335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 err="1">
                <a:solidFill>
                  <a:schemeClr val="bg1"/>
                </a:solidFill>
              </a:rPr>
              <a:t>Università</a:t>
            </a:r>
            <a:r>
              <a:rPr lang="en-US" altLang="en-US" b="1" dirty="0">
                <a:solidFill>
                  <a:schemeClr val="bg1"/>
                </a:solidFill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</a:rPr>
              <a:t>degli</a:t>
            </a:r>
            <a:r>
              <a:rPr lang="en-US" altLang="en-US" b="1" dirty="0">
                <a:solidFill>
                  <a:schemeClr val="bg1"/>
                </a:solidFill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</a:rPr>
              <a:t>Studi</a:t>
            </a:r>
            <a:r>
              <a:rPr lang="en-US" altLang="en-US" b="1" dirty="0">
                <a:solidFill>
                  <a:schemeClr val="bg1"/>
                </a:solidFill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</a:rPr>
              <a:t>dell’Aquila</a:t>
            </a:r>
            <a:endParaRPr lang="en-US" alt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204447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GB" sz="2800" b="1" dirty="0">
                <a:solidFill>
                  <a:srgbClr val="FFFFFF"/>
                </a:solidFill>
                <a:latin typeface="Calibri"/>
              </a:rPr>
              <a:t>Introduction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786384"/>
            <a:ext cx="10972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2920" y="6473952"/>
            <a:ext cx="112014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9692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A Decentralized Architecture Integrating NFT-Based Digital Assets and DAO Governance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4652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Calibri"/>
              </a:rPr>
              <a:t>2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0FECC56-897E-4F64-8886-1D4603A2B7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73" r="28000" b="17768"/>
          <a:stretch/>
        </p:blipFill>
        <p:spPr bwMode="auto">
          <a:xfrm>
            <a:off x="695739" y="1307772"/>
            <a:ext cx="10368501" cy="4640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oogle Shape;90;p1">
            <a:extLst>
              <a:ext uri="{FF2B5EF4-FFF2-40B4-BE49-F238E27FC236}">
                <a16:creationId xmlns:a16="http://schemas.microsoft.com/office/drawing/2014/main" id="{98E72E93-F7F5-42EF-8337-AC921426AA9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6573" r="28090" b="13074"/>
          <a:stretch/>
        </p:blipFill>
        <p:spPr>
          <a:xfrm>
            <a:off x="8614253" y="15971"/>
            <a:ext cx="1097280" cy="806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Picture 29" descr="&#10;">
            <a:extLst>
              <a:ext uri="{FF2B5EF4-FFF2-40B4-BE49-F238E27FC236}">
                <a16:creationId xmlns:a16="http://schemas.microsoft.com/office/drawing/2014/main" id="{8B1DA5AE-8ABA-4341-A165-CA6E835D37C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r="42379"/>
          <a:stretch/>
        </p:blipFill>
        <p:spPr>
          <a:xfrm>
            <a:off x="9561443" y="-14312"/>
            <a:ext cx="1043610" cy="820944"/>
          </a:xfrm>
          <a:prstGeom prst="rect">
            <a:avLst/>
          </a:prstGeom>
        </p:spPr>
      </p:pic>
      <p:pic>
        <p:nvPicPr>
          <p:cNvPr id="31" name="Picture 2">
            <a:extLst>
              <a:ext uri="{FF2B5EF4-FFF2-40B4-BE49-F238E27FC236}">
                <a16:creationId xmlns:a16="http://schemas.microsoft.com/office/drawing/2014/main" id="{B220D9C2-7C50-4222-A92B-D5B2C4298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5785" y="-14312"/>
            <a:ext cx="1706154" cy="84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Why This Research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86384"/>
            <a:ext cx="10972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100126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solidFill>
                  <a:srgbClr val="1F2937"/>
                </a:solidFill>
                <a:latin typeface="Calibri"/>
              </a:rPr>
              <a:t>Web3 tools are powerful — but real products need more than smart contracts.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1572767"/>
            <a:ext cx="2651760" cy="1802487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25880" y="16459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Calibri"/>
              </a:rPr>
              <a:t>Digital ownership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6123" y="2083242"/>
            <a:ext cx="2468880" cy="1023357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just">
              <a:spcAft>
                <a:spcPts val="300"/>
              </a:spcAft>
            </a:pPr>
            <a:r>
              <a:rPr sz="1600" dirty="0">
                <a:solidFill>
                  <a:srgbClr val="1F2937"/>
                </a:solidFill>
                <a:latin typeface="Calibri"/>
              </a:rPr>
              <a:t>Assets must be unique, verifiable, and portable.</a:t>
            </a:r>
          </a:p>
          <a:p>
            <a:pPr algn="just">
              <a:spcAft>
                <a:spcPts val="300"/>
              </a:spcAft>
            </a:pPr>
            <a:r>
              <a:rPr sz="1600" dirty="0">
                <a:solidFill>
                  <a:srgbClr val="1F2937"/>
                </a:solidFill>
                <a:latin typeface="Calibri"/>
              </a:rPr>
              <a:t>Examples: certificates, game items, records.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1572768"/>
            <a:ext cx="2788920" cy="1802486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9160" y="16459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Calibri"/>
              </a:rPr>
              <a:t>Transparent governance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003814"/>
            <a:ext cx="2651760" cy="126957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just">
              <a:spcAft>
                <a:spcPts val="300"/>
              </a:spcAft>
            </a:pPr>
            <a:r>
              <a:rPr sz="1600" dirty="0">
                <a:solidFill>
                  <a:srgbClr val="1F2937"/>
                </a:solidFill>
                <a:latin typeface="Calibri"/>
              </a:rPr>
              <a:t>Organizations need rules for approval, update, and revocation.</a:t>
            </a:r>
          </a:p>
          <a:p>
            <a:pPr algn="just">
              <a:spcAft>
                <a:spcPts val="300"/>
              </a:spcAft>
            </a:pPr>
            <a:r>
              <a:rPr sz="1600" dirty="0">
                <a:solidFill>
                  <a:srgbClr val="1F2937"/>
                </a:solidFill>
                <a:latin typeface="Calibri"/>
              </a:rPr>
              <a:t>Decisions must be auditable, not hidden.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80" y="1572768"/>
            <a:ext cx="2743200" cy="1802486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92440" y="16459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Calibri"/>
              </a:rPr>
              <a:t>Usable 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039112"/>
            <a:ext cx="2606040" cy="1023357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600" dirty="0">
                <a:solidFill>
                  <a:srgbClr val="1F2937"/>
                </a:solidFill>
                <a:latin typeface="Calibri"/>
              </a:rPr>
              <a:t>Real systems still need apps, APIs, storage, and identity.</a:t>
            </a:r>
          </a:p>
          <a:p>
            <a:pPr>
              <a:spcAft>
                <a:spcPts val="300"/>
              </a:spcAft>
            </a:pPr>
            <a:r>
              <a:rPr sz="1600" dirty="0">
                <a:solidFill>
                  <a:srgbClr val="1F2937"/>
                </a:solidFill>
                <a:latin typeface="Calibri"/>
              </a:rPr>
              <a:t>Otherwise blockchain stays a prototype.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3794760"/>
            <a:ext cx="10744200" cy="14630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041648"/>
            <a:ext cx="10149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2563EB"/>
                </a:solidFill>
                <a:latin typeface="Calibri"/>
              </a:rPr>
              <a:t>Core issue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315968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Calibri"/>
              </a:rPr>
              <a:t>Most existing solutions focus on one piece of the puzzle — NFTs, DAO voting, or smart contracts — but not the full information system needed for real deployment.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73952"/>
            <a:ext cx="112014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9692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A Decentralized Architecture Integrating NFT-Based Digital Assets and DAO Governance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4652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Calibri"/>
              </a:rPr>
              <a:t>2</a:t>
            </a:r>
          </a:p>
        </p:txBody>
      </p:sp>
      <p:pic>
        <p:nvPicPr>
          <p:cNvPr id="28" name="Google Shape;90;p1">
            <a:extLst>
              <a:ext uri="{FF2B5EF4-FFF2-40B4-BE49-F238E27FC236}">
                <a16:creationId xmlns:a16="http://schemas.microsoft.com/office/drawing/2014/main" id="{92FBCD5D-7B08-4084-9475-36E5F5D5694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6573" r="28090" b="13074"/>
          <a:stretch/>
        </p:blipFill>
        <p:spPr>
          <a:xfrm>
            <a:off x="8614253" y="15971"/>
            <a:ext cx="1097280" cy="806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Picture 28" descr="&#10;">
            <a:extLst>
              <a:ext uri="{FF2B5EF4-FFF2-40B4-BE49-F238E27FC236}">
                <a16:creationId xmlns:a16="http://schemas.microsoft.com/office/drawing/2014/main" id="{C61D1276-2826-4CC8-B773-D1FAD169BD5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r="42379"/>
          <a:stretch/>
        </p:blipFill>
        <p:spPr>
          <a:xfrm>
            <a:off x="9561443" y="-14312"/>
            <a:ext cx="1043610" cy="820944"/>
          </a:xfrm>
          <a:prstGeom prst="rect">
            <a:avLst/>
          </a:prstGeom>
        </p:spPr>
      </p:pic>
      <p:pic>
        <p:nvPicPr>
          <p:cNvPr id="30" name="Picture 2">
            <a:extLst>
              <a:ext uri="{FF2B5EF4-FFF2-40B4-BE49-F238E27FC236}">
                <a16:creationId xmlns:a16="http://schemas.microsoft.com/office/drawing/2014/main" id="{82437FD4-242B-48FA-A369-FA23C667B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4160" y="-12290"/>
            <a:ext cx="1706154" cy="84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9420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53845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BD5E1"/>
                </a:solidFill>
                <a:latin typeface="Calibri"/>
              </a:rPr>
              <a:t>Why current approaches fall short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86384"/>
            <a:ext cx="10972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46607" y="5266944"/>
            <a:ext cx="10698480" cy="7772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58487" y="5346395"/>
            <a:ext cx="10149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FFFFFF"/>
                </a:solidFill>
                <a:latin typeface="Calibri"/>
              </a:rPr>
              <a:t>Takeaway: The contribution is not a new token or DAO protocol; it is a system architecture that makes these technologies deployable in practice.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473952"/>
            <a:ext cx="112014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6510528"/>
            <a:ext cx="9692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A Decentralized Architecture Integrating NFT-Based Digital Assets and DAO Governance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4652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Calibri"/>
              </a:rPr>
              <a:t>3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D4BED7DA-0312-4285-B626-89D883D2E8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453" b="10266"/>
          <a:stretch/>
        </p:blipFill>
        <p:spPr>
          <a:xfrm>
            <a:off x="746607" y="915195"/>
            <a:ext cx="10797693" cy="4193912"/>
          </a:xfrm>
          <a:prstGeom prst="rect">
            <a:avLst/>
          </a:prstGeom>
        </p:spPr>
      </p:pic>
      <p:pic>
        <p:nvPicPr>
          <p:cNvPr id="42" name="Google Shape;90;p1">
            <a:extLst>
              <a:ext uri="{FF2B5EF4-FFF2-40B4-BE49-F238E27FC236}">
                <a16:creationId xmlns:a16="http://schemas.microsoft.com/office/drawing/2014/main" id="{49D148E1-BF2A-4052-988E-B87B04138B0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6573" r="28090" b="13074"/>
          <a:stretch/>
        </p:blipFill>
        <p:spPr>
          <a:xfrm>
            <a:off x="8614253" y="15971"/>
            <a:ext cx="1097280" cy="806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Picture 42" descr="&#10;">
            <a:extLst>
              <a:ext uri="{FF2B5EF4-FFF2-40B4-BE49-F238E27FC236}">
                <a16:creationId xmlns:a16="http://schemas.microsoft.com/office/drawing/2014/main" id="{BA6D5B61-BFBE-4D5B-BD4E-77C178CD93A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r="42379"/>
          <a:stretch/>
        </p:blipFill>
        <p:spPr>
          <a:xfrm>
            <a:off x="9561443" y="-14312"/>
            <a:ext cx="1043610" cy="820944"/>
          </a:xfrm>
          <a:prstGeom prst="rect">
            <a:avLst/>
          </a:prstGeom>
        </p:spPr>
      </p:pic>
      <p:pic>
        <p:nvPicPr>
          <p:cNvPr id="44" name="Picture 2">
            <a:extLst>
              <a:ext uri="{FF2B5EF4-FFF2-40B4-BE49-F238E27FC236}">
                <a16:creationId xmlns:a16="http://schemas.microsoft.com/office/drawing/2014/main" id="{D39296B5-DB96-4FB2-9F6A-A8BEDE063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4160" y="9144"/>
            <a:ext cx="1706154" cy="84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330872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59459" y="299127"/>
            <a:ext cx="15767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dirty="0">
                <a:solidFill>
                  <a:srgbClr val="CBD5E1"/>
                </a:solidFill>
                <a:latin typeface="Calibri"/>
              </a:rPr>
              <a:t>Five-layer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86384"/>
            <a:ext cx="10972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713232" y="1060704"/>
            <a:ext cx="7772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1F2937"/>
                </a:solidFill>
                <a:latin typeface="Calibri"/>
              </a:rPr>
              <a:t>One architecture connects Web2 usability with Web3 trust.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73952"/>
            <a:ext cx="112014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473879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Calibri"/>
              </a:rPr>
              <a:t>A Decentralized Architecture Integrating NFT-Based Digital Assets and DAO Governance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59285" y="6446520"/>
            <a:ext cx="253595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64748B"/>
                </a:solidFill>
                <a:latin typeface="Calibri"/>
              </a:rPr>
              <a:t>4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5062F21-0339-467E-83AA-2FD36BD3B5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905"/>
          <a:stretch/>
        </p:blipFill>
        <p:spPr>
          <a:xfrm>
            <a:off x="548640" y="1555461"/>
            <a:ext cx="10588848" cy="4500546"/>
          </a:xfrm>
          <a:prstGeom prst="rect">
            <a:avLst/>
          </a:prstGeom>
        </p:spPr>
      </p:pic>
      <p:pic>
        <p:nvPicPr>
          <p:cNvPr id="27" name="Google Shape;90;p1">
            <a:extLst>
              <a:ext uri="{FF2B5EF4-FFF2-40B4-BE49-F238E27FC236}">
                <a16:creationId xmlns:a16="http://schemas.microsoft.com/office/drawing/2014/main" id="{8F019C87-CABC-4199-87C9-4E8267E484B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6573" r="28090" b="13074"/>
          <a:stretch/>
        </p:blipFill>
        <p:spPr>
          <a:xfrm>
            <a:off x="8614253" y="15971"/>
            <a:ext cx="1097280" cy="806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Picture 27" descr="&#10;">
            <a:extLst>
              <a:ext uri="{FF2B5EF4-FFF2-40B4-BE49-F238E27FC236}">
                <a16:creationId xmlns:a16="http://schemas.microsoft.com/office/drawing/2014/main" id="{A42C1B47-BF7B-43EC-9039-AB8D79361F8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r="42379"/>
          <a:stretch/>
        </p:blipFill>
        <p:spPr>
          <a:xfrm>
            <a:off x="9561443" y="-14312"/>
            <a:ext cx="1043610" cy="820944"/>
          </a:xfrm>
          <a:prstGeom prst="rect">
            <a:avLst/>
          </a:prstGeom>
        </p:spPr>
      </p:pic>
      <p:pic>
        <p:nvPicPr>
          <p:cNvPr id="29" name="Picture 2">
            <a:extLst>
              <a:ext uri="{FF2B5EF4-FFF2-40B4-BE49-F238E27FC236}">
                <a16:creationId xmlns:a16="http://schemas.microsoft.com/office/drawing/2014/main" id="{F781CF0E-28A4-4060-8922-EE1F7B6FD3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4160" y="9144"/>
            <a:ext cx="1706154" cy="84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85800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Core Novelty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07008"/>
            <a:ext cx="8961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 work does not propose another token or DAO platform.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83080"/>
            <a:ext cx="98755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It proposes a deployable architecture that connects digital assets, governance, backend workflows, and hybrid storage.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3154680"/>
            <a:ext cx="329184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33272" y="3502152"/>
            <a:ext cx="594360" cy="5943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3272" y="3502152"/>
            <a:ext cx="5943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64792" y="338328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NFT Ownership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3822191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digital asset proof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35424" y="3154680"/>
            <a:ext cx="329184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764024" y="3502152"/>
            <a:ext cx="594360" cy="5943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64024" y="3502152"/>
            <a:ext cx="5943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95544" y="338328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DAO Governance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95544" y="3822191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policy and approval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66176" y="3154680"/>
            <a:ext cx="329184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8494776" y="3502152"/>
            <a:ext cx="594360" cy="5943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94776" y="3502152"/>
            <a:ext cx="5943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6296" y="338328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Backend Bridge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296" y="3822191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apps, APIs, storage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5074920"/>
            <a:ext cx="10149840" cy="7772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34440" y="5321808"/>
            <a:ext cx="9692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Main message: isolated Web3 tools become practical only when designed as a complete information system.</a:t>
            </a:r>
          </a:p>
        </p:txBody>
      </p:sp>
      <p:pic>
        <p:nvPicPr>
          <p:cNvPr id="22" name="Google Shape;90;p1">
            <a:extLst>
              <a:ext uri="{FF2B5EF4-FFF2-40B4-BE49-F238E27FC236}">
                <a16:creationId xmlns:a16="http://schemas.microsoft.com/office/drawing/2014/main" id="{85F084B2-F3BF-4AF2-9C36-7395F085E7B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6573" r="28090" b="13074"/>
          <a:stretch/>
        </p:blipFill>
        <p:spPr>
          <a:xfrm>
            <a:off x="8614253" y="15971"/>
            <a:ext cx="1097280" cy="806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Picture 22" descr="&#10;">
            <a:extLst>
              <a:ext uri="{FF2B5EF4-FFF2-40B4-BE49-F238E27FC236}">
                <a16:creationId xmlns:a16="http://schemas.microsoft.com/office/drawing/2014/main" id="{7EA46CCF-4484-418C-B8CF-1B5E68C436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r="42379"/>
          <a:stretch/>
        </p:blipFill>
        <p:spPr>
          <a:xfrm>
            <a:off x="9561443" y="-14312"/>
            <a:ext cx="1043610" cy="820944"/>
          </a:xfrm>
          <a:prstGeom prst="rect">
            <a:avLst/>
          </a:prstGeom>
        </p:spPr>
      </p:pic>
      <p:pic>
        <p:nvPicPr>
          <p:cNvPr id="24" name="Picture 2">
            <a:extLst>
              <a:ext uri="{FF2B5EF4-FFF2-40B4-BE49-F238E27FC236}">
                <a16:creationId xmlns:a16="http://schemas.microsoft.com/office/drawing/2014/main" id="{BD53ABF0-87CC-47DF-B253-4B27937008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4160" y="9144"/>
            <a:ext cx="1706154" cy="84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91269" y="269748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dirty="0">
                <a:solidFill>
                  <a:srgbClr val="CBD5E1"/>
                </a:solidFill>
                <a:latin typeface="Calibri"/>
              </a:rPr>
              <a:t>Detailed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86384"/>
            <a:ext cx="10972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02920" y="6473952"/>
            <a:ext cx="112014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6510528"/>
            <a:ext cx="9692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A Decentralized Architecture Integrating NFT-Based Digital Assets and DAO Governance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44652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Calibri"/>
              </a:rPr>
              <a:t>6</a:t>
            </a:r>
          </a:p>
        </p:txBody>
      </p:sp>
      <p:pic>
        <p:nvPicPr>
          <p:cNvPr id="40" name="Picture 39" descr="architecture.png">
            <a:extLst>
              <a:ext uri="{FF2B5EF4-FFF2-40B4-BE49-F238E27FC236}">
                <a16:creationId xmlns:a16="http://schemas.microsoft.com/office/drawing/2014/main" id="{8D622F1A-1BBF-4527-A3E8-F83FA115BB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400" b="6333"/>
          <a:stretch/>
        </p:blipFill>
        <p:spPr>
          <a:xfrm>
            <a:off x="7772" y="921258"/>
            <a:ext cx="12191695" cy="5436108"/>
          </a:xfrm>
          <a:prstGeom prst="rect">
            <a:avLst/>
          </a:prstGeom>
        </p:spPr>
      </p:pic>
      <p:pic>
        <p:nvPicPr>
          <p:cNvPr id="44" name="Google Shape;90;p1">
            <a:extLst>
              <a:ext uri="{FF2B5EF4-FFF2-40B4-BE49-F238E27FC236}">
                <a16:creationId xmlns:a16="http://schemas.microsoft.com/office/drawing/2014/main" id="{318E73E0-C5A3-4DF7-9FE5-F1C0A8DA09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6573" r="28090" b="13074"/>
          <a:stretch/>
        </p:blipFill>
        <p:spPr>
          <a:xfrm>
            <a:off x="8614253" y="15971"/>
            <a:ext cx="1097280" cy="806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Picture 44" descr="&#10;">
            <a:extLst>
              <a:ext uri="{FF2B5EF4-FFF2-40B4-BE49-F238E27FC236}">
                <a16:creationId xmlns:a16="http://schemas.microsoft.com/office/drawing/2014/main" id="{D427E594-1390-4F68-8B48-37095E1D5B0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r="42379"/>
          <a:stretch/>
        </p:blipFill>
        <p:spPr>
          <a:xfrm>
            <a:off x="9561443" y="-14312"/>
            <a:ext cx="1043610" cy="820944"/>
          </a:xfrm>
          <a:prstGeom prst="rect">
            <a:avLst/>
          </a:prstGeom>
        </p:spPr>
      </p:pic>
      <p:pic>
        <p:nvPicPr>
          <p:cNvPr id="46" name="Picture 2">
            <a:extLst>
              <a:ext uri="{FF2B5EF4-FFF2-40B4-BE49-F238E27FC236}">
                <a16:creationId xmlns:a16="http://schemas.microsoft.com/office/drawing/2014/main" id="{E74D1B10-81A7-40EB-89E0-B2CC2121B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4160" y="9144"/>
            <a:ext cx="1706154" cy="84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How the System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63887" y="278097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dirty="0">
                <a:solidFill>
                  <a:srgbClr val="CBD5E1"/>
                </a:solidFill>
                <a:latin typeface="Calibri"/>
              </a:rPr>
              <a:t>End-to-end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86384"/>
            <a:ext cx="10972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6473952"/>
            <a:ext cx="112014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9692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A Decentralized Architecture Integrating NFT-Based Digital Assets and DAO Governance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4652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Calibri"/>
              </a:rPr>
              <a:t>5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658DC83-7FFA-419C-AC12-6E185F5CEC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069" b="7934"/>
          <a:stretch/>
        </p:blipFill>
        <p:spPr>
          <a:xfrm>
            <a:off x="659957" y="1179575"/>
            <a:ext cx="10678603" cy="4425697"/>
          </a:xfrm>
          <a:prstGeom prst="rect">
            <a:avLst/>
          </a:prstGeom>
        </p:spPr>
      </p:pic>
      <p:pic>
        <p:nvPicPr>
          <p:cNvPr id="29" name="Google Shape;90;p1">
            <a:extLst>
              <a:ext uri="{FF2B5EF4-FFF2-40B4-BE49-F238E27FC236}">
                <a16:creationId xmlns:a16="http://schemas.microsoft.com/office/drawing/2014/main" id="{206DF5E3-7CEF-4E9E-AECA-C9A9E18A1C9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6573" r="28090" b="13074"/>
          <a:stretch/>
        </p:blipFill>
        <p:spPr>
          <a:xfrm>
            <a:off x="8614253" y="15971"/>
            <a:ext cx="1097280" cy="806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Picture 29" descr="&#10;">
            <a:extLst>
              <a:ext uri="{FF2B5EF4-FFF2-40B4-BE49-F238E27FC236}">
                <a16:creationId xmlns:a16="http://schemas.microsoft.com/office/drawing/2014/main" id="{F12906DB-F5B3-45E7-99F4-89A9E142A27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r="42379"/>
          <a:stretch/>
        </p:blipFill>
        <p:spPr>
          <a:xfrm>
            <a:off x="9561443" y="-14312"/>
            <a:ext cx="1043610" cy="820944"/>
          </a:xfrm>
          <a:prstGeom prst="rect">
            <a:avLst/>
          </a:prstGeom>
        </p:spPr>
      </p:pic>
      <p:pic>
        <p:nvPicPr>
          <p:cNvPr id="31" name="Picture 2">
            <a:extLst>
              <a:ext uri="{FF2B5EF4-FFF2-40B4-BE49-F238E27FC236}">
                <a16:creationId xmlns:a16="http://schemas.microsoft.com/office/drawing/2014/main" id="{8A64519B-6DC9-49BA-9946-0870C50A9F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4160" y="9144"/>
            <a:ext cx="1706154" cy="84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Real-World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92039" y="268158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dirty="0">
                <a:solidFill>
                  <a:srgbClr val="CBD5E1"/>
                </a:solidFill>
                <a:latin typeface="Calibri"/>
              </a:rPr>
              <a:t>Where this architecture helps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86384"/>
            <a:ext cx="10972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60704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F2937"/>
                </a:solidFill>
                <a:latin typeface="Calibri"/>
              </a:rPr>
              <a:t>One architecture can support many application domains by changing the asset type and governance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383280" cy="2834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81051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0F172A"/>
                </a:solidFill>
                <a:latin typeface="Calibri"/>
              </a:rPr>
              <a:t>Certification apps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7944"/>
            <a:ext cx="3108960" cy="146193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just">
              <a:spcAft>
                <a:spcPts val="300"/>
              </a:spcAft>
            </a:pPr>
            <a:r>
              <a:rPr dirty="0">
                <a:solidFill>
                  <a:srgbClr val="1F2937"/>
                </a:solidFill>
                <a:latin typeface="Calibri"/>
              </a:rPr>
              <a:t>NFT = diploma or certificate</a:t>
            </a:r>
          </a:p>
          <a:p>
            <a:pPr algn="just">
              <a:spcAft>
                <a:spcPts val="300"/>
              </a:spcAft>
            </a:pPr>
            <a:r>
              <a:rPr dirty="0">
                <a:solidFill>
                  <a:srgbClr val="1F2937"/>
                </a:solidFill>
                <a:latin typeface="Calibri"/>
              </a:rPr>
              <a:t>DAO = issuer approval and revocation</a:t>
            </a:r>
          </a:p>
          <a:p>
            <a:pPr algn="just">
              <a:spcAft>
                <a:spcPts val="300"/>
              </a:spcAft>
            </a:pPr>
            <a:r>
              <a:rPr dirty="0">
                <a:solidFill>
                  <a:srgbClr val="1F2937"/>
                </a:solidFill>
                <a:latin typeface="Calibri"/>
              </a:rPr>
              <a:t>Benefit = instant, tamper-evident verification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737360"/>
            <a:ext cx="3383280" cy="2834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19" y="181051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0F172A"/>
                </a:solidFill>
                <a:latin typeface="Calibri"/>
              </a:rPr>
              <a:t>Gaming apps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19" y="2371464"/>
            <a:ext cx="3108960" cy="173893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just">
              <a:spcAft>
                <a:spcPts val="300"/>
              </a:spcAft>
            </a:pPr>
            <a:r>
              <a:rPr dirty="0">
                <a:solidFill>
                  <a:srgbClr val="1F2937"/>
                </a:solidFill>
                <a:latin typeface="Calibri"/>
              </a:rPr>
              <a:t>NFT = rare item, skin, character, ticket</a:t>
            </a:r>
          </a:p>
          <a:p>
            <a:pPr algn="just">
              <a:spcAft>
                <a:spcPts val="300"/>
              </a:spcAft>
            </a:pPr>
            <a:r>
              <a:rPr dirty="0">
                <a:solidFill>
                  <a:srgbClr val="1F2937"/>
                </a:solidFill>
                <a:latin typeface="Calibri"/>
              </a:rPr>
              <a:t>DAO = economy rules and community decisions</a:t>
            </a:r>
          </a:p>
          <a:p>
            <a:pPr algn="just">
              <a:spcAft>
                <a:spcPts val="300"/>
              </a:spcAft>
            </a:pPr>
            <a:r>
              <a:rPr dirty="0">
                <a:solidFill>
                  <a:srgbClr val="1F2937"/>
                </a:solidFill>
                <a:latin typeface="Calibri"/>
              </a:rPr>
              <a:t>Benefit = player ownership and tradable assets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737360"/>
            <a:ext cx="3383280" cy="2834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81051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0F172A"/>
                </a:solidFill>
                <a:latin typeface="Calibri"/>
              </a:rPr>
              <a:t>Construction apps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337944"/>
            <a:ext cx="3108960" cy="173893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just">
              <a:spcAft>
                <a:spcPts val="300"/>
              </a:spcAft>
            </a:pPr>
            <a:r>
              <a:rPr dirty="0">
                <a:solidFill>
                  <a:srgbClr val="1F2937"/>
                </a:solidFill>
                <a:latin typeface="Calibri"/>
              </a:rPr>
              <a:t>NFT = building dossier or record</a:t>
            </a:r>
          </a:p>
          <a:p>
            <a:pPr algn="just">
              <a:spcAft>
                <a:spcPts val="300"/>
              </a:spcAft>
            </a:pPr>
            <a:r>
              <a:rPr dirty="0">
                <a:solidFill>
                  <a:srgbClr val="1F2937"/>
                </a:solidFill>
                <a:latin typeface="Calibri"/>
              </a:rPr>
              <a:t>DAO = consortium approval of updates</a:t>
            </a:r>
          </a:p>
          <a:p>
            <a:pPr algn="just">
              <a:spcAft>
                <a:spcPts val="300"/>
              </a:spcAft>
            </a:pPr>
            <a:r>
              <a:rPr dirty="0">
                <a:solidFill>
                  <a:srgbClr val="1F2937"/>
                </a:solidFill>
                <a:latin typeface="Calibri"/>
              </a:rPr>
              <a:t>Benefit = traceable lifecycle and shared accountability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074920"/>
            <a:ext cx="1645920" cy="310896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1173996" y="5102352"/>
            <a:ext cx="94384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Ticketing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79" y="5074920"/>
            <a:ext cx="1645920" cy="310896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2943530" y="5102352"/>
            <a:ext cx="161101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Property records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5074920"/>
            <a:ext cx="1645920" cy="310896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TextBox 20"/>
          <p:cNvSpPr txBox="1"/>
          <p:nvPr/>
        </p:nvSpPr>
        <p:spPr>
          <a:xfrm>
            <a:off x="5218813" y="5102352"/>
            <a:ext cx="126669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Supply chain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5074920"/>
            <a:ext cx="1645920" cy="310896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7319978" y="5102352"/>
            <a:ext cx="127060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Membership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5074920"/>
            <a:ext cx="1645920" cy="310896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TextBox 24"/>
          <p:cNvSpPr txBox="1"/>
          <p:nvPr/>
        </p:nvSpPr>
        <p:spPr>
          <a:xfrm>
            <a:off x="9339646" y="5102352"/>
            <a:ext cx="143750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Digital identity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473952"/>
            <a:ext cx="112014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6510528"/>
            <a:ext cx="9692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A Decentralized Architecture Integrating NFT-Based Digital Assets and DAO Governance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4652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Calibri"/>
              </a:rPr>
              <a:t>7</a:t>
            </a:r>
          </a:p>
        </p:txBody>
      </p:sp>
      <p:pic>
        <p:nvPicPr>
          <p:cNvPr id="29" name="Google Shape;90;p1">
            <a:extLst>
              <a:ext uri="{FF2B5EF4-FFF2-40B4-BE49-F238E27FC236}">
                <a16:creationId xmlns:a16="http://schemas.microsoft.com/office/drawing/2014/main" id="{FC6AC14C-CC09-4E11-9F33-F13D0F9D80C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6573" r="28090" b="13074"/>
          <a:stretch/>
        </p:blipFill>
        <p:spPr>
          <a:xfrm>
            <a:off x="8614253" y="15971"/>
            <a:ext cx="1097280" cy="806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Picture 29" descr="&#10;">
            <a:extLst>
              <a:ext uri="{FF2B5EF4-FFF2-40B4-BE49-F238E27FC236}">
                <a16:creationId xmlns:a16="http://schemas.microsoft.com/office/drawing/2014/main" id="{E3777111-89A0-4922-92B7-DF950D43F8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r="42379"/>
          <a:stretch/>
        </p:blipFill>
        <p:spPr>
          <a:xfrm>
            <a:off x="9561443" y="-14312"/>
            <a:ext cx="1043610" cy="820944"/>
          </a:xfrm>
          <a:prstGeom prst="rect">
            <a:avLst/>
          </a:prstGeom>
        </p:spPr>
      </p:pic>
      <p:pic>
        <p:nvPicPr>
          <p:cNvPr id="31" name="Picture 2">
            <a:extLst>
              <a:ext uri="{FF2B5EF4-FFF2-40B4-BE49-F238E27FC236}">
                <a16:creationId xmlns:a16="http://schemas.microsoft.com/office/drawing/2014/main" id="{73193625-84CD-4679-A91F-680A8F0AA0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4160" y="9144"/>
            <a:ext cx="1706154" cy="84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Validation and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01752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dirty="0">
                <a:solidFill>
                  <a:srgbClr val="CBD5E1"/>
                </a:solidFill>
                <a:latin typeface="Calibri"/>
              </a:rPr>
              <a:t>What the workshop paper demonstrates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86384"/>
            <a:ext cx="10972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257800" cy="3657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399032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Calibri"/>
              </a:rPr>
              <a:t>Validation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06802"/>
            <a:ext cx="4983480" cy="2923877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just">
              <a:spcAft>
                <a:spcPts val="300"/>
              </a:spcAft>
            </a:pPr>
            <a:r>
              <a:rPr dirty="0">
                <a:solidFill>
                  <a:srgbClr val="1F2937"/>
                </a:solidFill>
                <a:latin typeface="Calibri"/>
              </a:rPr>
              <a:t>Workshop paper: conceptual architecture, not a full production prototype</a:t>
            </a:r>
          </a:p>
          <a:p>
            <a:pPr algn="just">
              <a:spcAft>
                <a:spcPts val="300"/>
              </a:spcAft>
            </a:pPr>
            <a:r>
              <a:rPr dirty="0">
                <a:solidFill>
                  <a:srgbClr val="1F2937"/>
                </a:solidFill>
                <a:latin typeface="Calibri"/>
              </a:rPr>
              <a:t>Main scenario: digital credential issuance, verification, update, and revocation</a:t>
            </a:r>
          </a:p>
          <a:p>
            <a:pPr algn="just">
              <a:spcAft>
                <a:spcPts val="300"/>
              </a:spcAft>
            </a:pPr>
            <a:r>
              <a:rPr dirty="0">
                <a:solidFill>
                  <a:srgbClr val="1F2937"/>
                </a:solidFill>
                <a:latin typeface="Calibri"/>
              </a:rPr>
              <a:t>Blockchain layer: smart contracts and ERC-721 / ERC-1155</a:t>
            </a:r>
          </a:p>
          <a:p>
            <a:pPr algn="just">
              <a:spcAft>
                <a:spcPts val="300"/>
              </a:spcAft>
            </a:pPr>
            <a:r>
              <a:rPr dirty="0">
                <a:solidFill>
                  <a:srgbClr val="1F2937"/>
                </a:solidFill>
                <a:latin typeface="Calibri"/>
              </a:rPr>
              <a:t>Governance examples: Aragon, Snapshot, Colony, Gnosis Safe, Tally</a:t>
            </a:r>
          </a:p>
          <a:p>
            <a:pPr algn="just">
              <a:spcAft>
                <a:spcPts val="300"/>
              </a:spcAft>
            </a:pPr>
            <a:r>
              <a:rPr dirty="0">
                <a:solidFill>
                  <a:srgbClr val="1F2937"/>
                </a:solidFill>
                <a:latin typeface="Calibri"/>
              </a:rPr>
              <a:t>Storage model: blockchain proof + IPFS/</a:t>
            </a:r>
            <a:r>
              <a:rPr dirty="0" err="1">
                <a:solidFill>
                  <a:srgbClr val="1F2937"/>
                </a:solidFill>
                <a:latin typeface="Calibri"/>
              </a:rPr>
              <a:t>Arweave</a:t>
            </a:r>
            <a:r>
              <a:rPr dirty="0">
                <a:solidFill>
                  <a:srgbClr val="1F2937"/>
                </a:solidFill>
                <a:latin typeface="Calibri"/>
              </a:rPr>
              <a:t> + application 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25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1F2937"/>
                </a:solidFill>
                <a:latin typeface="Calibri"/>
              </a:rPr>
              <a:t>Key findings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5074920" cy="56692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764792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Calibri"/>
              </a:rPr>
              <a:t>Transparency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75688"/>
            <a:ext cx="4800600" cy="1097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DAO decisions are auditable.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350008"/>
            <a:ext cx="5074920" cy="56692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423160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Calibri"/>
              </a:rPr>
              <a:t>Interoperability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34056"/>
            <a:ext cx="4800600" cy="1097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APIs bridge Web2 and Web3 components.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008376"/>
            <a:ext cx="5074920" cy="56692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3081528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Calibri"/>
              </a:rPr>
              <a:t>Deployability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392424"/>
            <a:ext cx="4800600" cy="1097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Hybrid storage supports practical deployment.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666744"/>
            <a:ext cx="5074920" cy="56692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3739896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Calibri"/>
              </a:rPr>
              <a:t>Usability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050792"/>
            <a:ext cx="4800600" cy="1097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Apps and wallets make the system accessible.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325112"/>
            <a:ext cx="5074920" cy="56692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4398264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Calibri"/>
              </a:rPr>
              <a:t>Scalability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709160"/>
            <a:ext cx="4800600" cy="1097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Not all data has to live on-chain.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73952"/>
            <a:ext cx="112014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9692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A Decentralized Architecture Integrating NFT-Based Digital Assets and DAO Governance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4652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  <p:pic>
        <p:nvPicPr>
          <p:cNvPr id="28" name="Google Shape;90;p1">
            <a:extLst>
              <a:ext uri="{FF2B5EF4-FFF2-40B4-BE49-F238E27FC236}">
                <a16:creationId xmlns:a16="http://schemas.microsoft.com/office/drawing/2014/main" id="{3FE67465-EAA9-4861-BDA4-56377213921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6573" r="28090" b="13074"/>
          <a:stretch/>
        </p:blipFill>
        <p:spPr>
          <a:xfrm>
            <a:off x="8614253" y="15971"/>
            <a:ext cx="1097280" cy="806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Picture 28" descr="&#10;">
            <a:extLst>
              <a:ext uri="{FF2B5EF4-FFF2-40B4-BE49-F238E27FC236}">
                <a16:creationId xmlns:a16="http://schemas.microsoft.com/office/drawing/2014/main" id="{69FD9740-ABAF-4D97-B5D1-25196723BD5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r="42379"/>
          <a:stretch/>
        </p:blipFill>
        <p:spPr>
          <a:xfrm>
            <a:off x="9561443" y="-14312"/>
            <a:ext cx="1043610" cy="820944"/>
          </a:xfrm>
          <a:prstGeom prst="rect">
            <a:avLst/>
          </a:prstGeom>
        </p:spPr>
      </p:pic>
      <p:pic>
        <p:nvPicPr>
          <p:cNvPr id="30" name="Picture 2">
            <a:extLst>
              <a:ext uri="{FF2B5EF4-FFF2-40B4-BE49-F238E27FC236}">
                <a16:creationId xmlns:a16="http://schemas.microsoft.com/office/drawing/2014/main" id="{59766DA5-0946-4AB7-9246-0B3E584E9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4160" y="9144"/>
            <a:ext cx="1706154" cy="84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Main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85616" y="278892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dirty="0">
                <a:solidFill>
                  <a:srgbClr val="CBD5E1"/>
                </a:solidFill>
                <a:latin typeface="Calibri"/>
              </a:rPr>
              <a:t>What the paper adds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86384"/>
            <a:ext cx="10972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141732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26464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53312" y="1399032"/>
            <a:ext cx="489204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90472" y="1472184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Calibri"/>
              </a:rPr>
              <a:t>Unified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1783080"/>
            <a:ext cx="4617720" cy="10515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Brings NFT assets and DAO governance into one deployable system architecture.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0" y="1417320"/>
            <a:ext cx="438912" cy="43891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0" y="1426464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56832" y="1399032"/>
            <a:ext cx="489204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1472184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Calibri"/>
              </a:rPr>
              <a:t>Five-layer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3992" y="1783080"/>
            <a:ext cx="4617720" cy="10515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Separates users, apps, orchestration, governance/assets, and persistence.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33756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346704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53312" y="3319272"/>
            <a:ext cx="489204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90472" y="3392424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Calibri"/>
              </a:rPr>
              <a:t>Workflow clarity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0472" y="3703320"/>
            <a:ext cx="4617720" cy="10515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Shows how requests become governed digital assets with verifiable history.</a:t>
            </a:r>
          </a:p>
        </p:txBody>
      </p:sp>
      <p:sp>
        <p:nvSpPr>
          <p:cNvPr id="21" name="Oval 20"/>
          <p:cNvSpPr/>
          <p:nvPr/>
        </p:nvSpPr>
        <p:spPr>
          <a:xfrm>
            <a:off x="6126480" y="3337560"/>
            <a:ext cx="438912" cy="43891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0" y="3346704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56832" y="3319272"/>
            <a:ext cx="489204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93992" y="3392424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Calibri"/>
              </a:rPr>
              <a:t>Real-world relevance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3992" y="3703320"/>
            <a:ext cx="4617720" cy="10515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Demonstrates applicability to certificates, gaming, construction, and more.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473952"/>
            <a:ext cx="112014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6510528"/>
            <a:ext cx="9692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A Decentralized Architecture Integrating NFT-Based Digital Assets and DAO Governance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4652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  <p:pic>
        <p:nvPicPr>
          <p:cNvPr id="29" name="Google Shape;90;p1">
            <a:extLst>
              <a:ext uri="{FF2B5EF4-FFF2-40B4-BE49-F238E27FC236}">
                <a16:creationId xmlns:a16="http://schemas.microsoft.com/office/drawing/2014/main" id="{38A7A106-BE8D-4057-8156-B4A8C632730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6573" r="28090" b="13074"/>
          <a:stretch/>
        </p:blipFill>
        <p:spPr>
          <a:xfrm>
            <a:off x="8614253" y="15971"/>
            <a:ext cx="1097280" cy="806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Picture 29" descr="&#10;">
            <a:extLst>
              <a:ext uri="{FF2B5EF4-FFF2-40B4-BE49-F238E27FC236}">
                <a16:creationId xmlns:a16="http://schemas.microsoft.com/office/drawing/2014/main" id="{2DFE8C74-8350-4D3F-A204-55E230E797E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r="42379"/>
          <a:stretch/>
        </p:blipFill>
        <p:spPr>
          <a:xfrm>
            <a:off x="9561443" y="-14312"/>
            <a:ext cx="1043610" cy="820944"/>
          </a:xfrm>
          <a:prstGeom prst="rect">
            <a:avLst/>
          </a:prstGeom>
        </p:spPr>
      </p:pic>
      <p:pic>
        <p:nvPicPr>
          <p:cNvPr id="31" name="Picture 2">
            <a:extLst>
              <a:ext uri="{FF2B5EF4-FFF2-40B4-BE49-F238E27FC236}">
                <a16:creationId xmlns:a16="http://schemas.microsoft.com/office/drawing/2014/main" id="{4EE9321B-5B30-44C4-A404-DC1828E44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4160" y="9144"/>
            <a:ext cx="1706154" cy="84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Limitations and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72584" y="278782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BD5E1"/>
                </a:solidFill>
                <a:latin typeface="Calibri"/>
              </a:rPr>
              <a:t>Honest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86384"/>
            <a:ext cx="10972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502920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90472"/>
            <a:ext cx="4754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0F172A"/>
                </a:solidFill>
                <a:latin typeface="Calibri"/>
              </a:rPr>
              <a:t>Current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03328"/>
            <a:ext cx="4754880" cy="173893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just">
              <a:spcAft>
                <a:spcPts val="300"/>
              </a:spcAft>
            </a:pPr>
            <a:r>
              <a:rPr dirty="0">
                <a:solidFill>
                  <a:srgbClr val="1F2937"/>
                </a:solidFill>
                <a:latin typeface="Calibri"/>
              </a:rPr>
              <a:t>Conceptual architecture; no full production prototype yet</a:t>
            </a:r>
          </a:p>
          <a:p>
            <a:pPr algn="just">
              <a:spcAft>
                <a:spcPts val="300"/>
              </a:spcAft>
            </a:pPr>
            <a:r>
              <a:rPr dirty="0">
                <a:solidFill>
                  <a:srgbClr val="1F2937"/>
                </a:solidFill>
                <a:latin typeface="Calibri"/>
              </a:rPr>
              <a:t>No quantitative measurements for latency, gas cost, throughput, or usability</a:t>
            </a:r>
          </a:p>
          <a:p>
            <a:pPr algn="just">
              <a:spcAft>
                <a:spcPts val="300"/>
              </a:spcAft>
            </a:pPr>
            <a:r>
              <a:rPr dirty="0">
                <a:solidFill>
                  <a:srgbClr val="1F2937"/>
                </a:solidFill>
                <a:latin typeface="Calibri"/>
              </a:rPr>
              <a:t>Security, privacy, and governance risks still need formal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Calibri"/>
              </a:rPr>
              <a:t>Roadmap</a:t>
            </a:r>
          </a:p>
        </p:txBody>
      </p:sp>
      <p:sp>
        <p:nvSpPr>
          <p:cNvPr id="10" name="Oval 9"/>
          <p:cNvSpPr/>
          <p:nvPr/>
        </p:nvSpPr>
        <p:spPr>
          <a:xfrm>
            <a:off x="6355080" y="224028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2249424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788920"/>
            <a:ext cx="98755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>
                <a:solidFill>
                  <a:srgbClr val="1F2937"/>
                </a:solidFill>
                <a:latin typeface="Calibri"/>
              </a:rPr>
              <a:t>Prototype</a:t>
            </a:r>
          </a:p>
        </p:txBody>
      </p:sp>
      <p:sp>
        <p:nvSpPr>
          <p:cNvPr id="13" name="Oval 12"/>
          <p:cNvSpPr/>
          <p:nvPr/>
        </p:nvSpPr>
        <p:spPr>
          <a:xfrm>
            <a:off x="7360920" y="224028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60920" y="2249424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51192" y="2788920"/>
            <a:ext cx="9601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>
                <a:solidFill>
                  <a:srgbClr val="1F2937"/>
                </a:solidFill>
                <a:latin typeface="Calibri"/>
              </a:rPr>
              <a:t>Metrics</a:t>
            </a:r>
          </a:p>
        </p:txBody>
      </p:sp>
      <p:sp>
        <p:nvSpPr>
          <p:cNvPr id="16" name="Oval 15"/>
          <p:cNvSpPr/>
          <p:nvPr/>
        </p:nvSpPr>
        <p:spPr>
          <a:xfrm>
            <a:off x="8458200" y="2240280"/>
            <a:ext cx="438912" cy="43891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8200" y="2249424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2" y="2788920"/>
            <a:ext cx="795528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>
                <a:solidFill>
                  <a:srgbClr val="1F2937"/>
                </a:solidFill>
                <a:latin typeface="Calibri"/>
              </a:rPr>
              <a:t>Security
+ privacy</a:t>
            </a:r>
          </a:p>
        </p:txBody>
      </p:sp>
      <p:sp>
        <p:nvSpPr>
          <p:cNvPr id="19" name="Oval 18"/>
          <p:cNvSpPr/>
          <p:nvPr/>
        </p:nvSpPr>
        <p:spPr>
          <a:xfrm>
            <a:off x="9555480" y="2240280"/>
            <a:ext cx="438912" cy="43891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55480" y="2249424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5752" y="2788920"/>
            <a:ext cx="98755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>
                <a:solidFill>
                  <a:srgbClr val="1F2937"/>
                </a:solidFill>
                <a:latin typeface="Calibri"/>
              </a:rPr>
              <a:t>Cross-chain</a:t>
            </a:r>
          </a:p>
        </p:txBody>
      </p:sp>
      <p:sp>
        <p:nvSpPr>
          <p:cNvPr id="22" name="Oval 21"/>
          <p:cNvSpPr/>
          <p:nvPr/>
        </p:nvSpPr>
        <p:spPr>
          <a:xfrm>
            <a:off x="10561320" y="2240280"/>
            <a:ext cx="438912" cy="43891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61320" y="2249424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1592" y="2788920"/>
            <a:ext cx="108773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>
                <a:solidFill>
                  <a:srgbClr val="1F2937"/>
                </a:solidFill>
                <a:latin typeface="Calibri"/>
              </a:rPr>
              <a:t>AI services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2432304"/>
            <a:ext cx="420624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245352" y="3657599"/>
            <a:ext cx="4910328" cy="1789777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3730752"/>
            <a:ext cx="4617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0F172A"/>
                </a:solidFill>
                <a:latin typeface="Calibri"/>
              </a:rPr>
              <a:t>Next research goal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208471"/>
            <a:ext cx="4910328" cy="92333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2000" dirty="0">
                <a:solidFill>
                  <a:srgbClr val="1F2937"/>
                </a:solidFill>
                <a:latin typeface="Calibri"/>
              </a:rPr>
              <a:t>Build and test a prototype that measures performance, user experience, and policy/security behavior in real deployments.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73952"/>
            <a:ext cx="112014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6510528"/>
            <a:ext cx="9692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A Decentralized Architecture Integrating NFT-Based Digital Assets and DAO Governance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4652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  <p:pic>
        <p:nvPicPr>
          <p:cNvPr id="32" name="Google Shape;90;p1">
            <a:extLst>
              <a:ext uri="{FF2B5EF4-FFF2-40B4-BE49-F238E27FC236}">
                <a16:creationId xmlns:a16="http://schemas.microsoft.com/office/drawing/2014/main" id="{61AEE27B-E42B-4B4B-918E-E97483338AD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6573" r="28090" b="13074"/>
          <a:stretch/>
        </p:blipFill>
        <p:spPr>
          <a:xfrm>
            <a:off x="8614253" y="15971"/>
            <a:ext cx="1097280" cy="806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Picture 32" descr="&#10;">
            <a:extLst>
              <a:ext uri="{FF2B5EF4-FFF2-40B4-BE49-F238E27FC236}">
                <a16:creationId xmlns:a16="http://schemas.microsoft.com/office/drawing/2014/main" id="{52B33EBA-2865-40EB-9769-B15F56CA46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r="42379"/>
          <a:stretch/>
        </p:blipFill>
        <p:spPr>
          <a:xfrm>
            <a:off x="9561443" y="-14312"/>
            <a:ext cx="1043610" cy="820944"/>
          </a:xfrm>
          <a:prstGeom prst="rect">
            <a:avLst/>
          </a:prstGeom>
        </p:spPr>
      </p:pic>
      <p:pic>
        <p:nvPicPr>
          <p:cNvPr id="34" name="Picture 2">
            <a:extLst>
              <a:ext uri="{FF2B5EF4-FFF2-40B4-BE49-F238E27FC236}">
                <a16:creationId xmlns:a16="http://schemas.microsoft.com/office/drawing/2014/main" id="{B280CEB5-8A0B-4C65-BFF7-ECBB585EF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4160" y="9144"/>
            <a:ext cx="1706154" cy="84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sleek_futuristic_abstract_technology_background_batc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9879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Calibr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One architecture makes
Web3 usable in practice.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566928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00" b="1">
                <a:solidFill>
                  <a:srgbClr val="06B6D4"/>
                </a:solidFill>
                <a:latin typeface="Calibri"/>
              </a:rPr>
              <a:t>• </a:t>
            </a:r>
            <a:r>
              <a:rPr sz="2000" b="0">
                <a:solidFill>
                  <a:srgbClr val="FFFFFF"/>
                </a:solidFill>
                <a:latin typeface="Calibri"/>
              </a:rPr>
              <a:t>NFTs represent the digital asset.</a:t>
            </a:r>
          </a:p>
          <a:p>
            <a:pPr>
              <a:spcAft>
                <a:spcPts val="500"/>
              </a:spcAft>
            </a:pPr>
            <a:r>
              <a:rPr sz="2000" b="1">
                <a:solidFill>
                  <a:srgbClr val="06B6D4"/>
                </a:solidFill>
                <a:latin typeface="Calibri"/>
              </a:rPr>
              <a:t>• </a:t>
            </a:r>
            <a:r>
              <a:rPr sz="2000" b="0">
                <a:solidFill>
                  <a:srgbClr val="FFFFFF"/>
                </a:solidFill>
                <a:latin typeface="Calibri"/>
              </a:rPr>
              <a:t>DAOs govern approval, update, and revocation.</a:t>
            </a:r>
          </a:p>
          <a:p>
            <a:pPr>
              <a:spcAft>
                <a:spcPts val="500"/>
              </a:spcAft>
            </a:pPr>
            <a:r>
              <a:rPr sz="2000" b="1">
                <a:solidFill>
                  <a:srgbClr val="06B6D4"/>
                </a:solidFill>
                <a:latin typeface="Calibri"/>
              </a:rPr>
              <a:t>• </a:t>
            </a:r>
            <a:r>
              <a:rPr sz="2000" b="0">
                <a:solidFill>
                  <a:srgbClr val="FFFFFF"/>
                </a:solidFill>
                <a:latin typeface="Calibri"/>
              </a:rPr>
              <a:t>Apps and APIs make the system usable.</a:t>
            </a:r>
          </a:p>
          <a:p>
            <a:pPr>
              <a:spcAft>
                <a:spcPts val="500"/>
              </a:spcAft>
            </a:pPr>
            <a:r>
              <a:rPr sz="2000" b="1">
                <a:solidFill>
                  <a:srgbClr val="06B6D4"/>
                </a:solidFill>
                <a:latin typeface="Calibri"/>
              </a:rPr>
              <a:t>• </a:t>
            </a:r>
            <a:r>
              <a:rPr sz="2000" b="0">
                <a:solidFill>
                  <a:srgbClr val="FFFFFF"/>
                </a:solidFill>
                <a:latin typeface="Calibri"/>
              </a:rPr>
              <a:t>Hybrid storage keeps it scalable and practical.</a:t>
            </a:r>
          </a:p>
          <a:p>
            <a:pPr>
              <a:spcAft>
                <a:spcPts val="500"/>
              </a:spcAft>
            </a:pPr>
            <a:r>
              <a:rPr sz="2000" b="1">
                <a:solidFill>
                  <a:srgbClr val="06B6D4"/>
                </a:solidFill>
                <a:latin typeface="Calibri"/>
              </a:rPr>
              <a:t>• </a:t>
            </a:r>
            <a:r>
              <a:rPr sz="2000" b="0">
                <a:solidFill>
                  <a:srgbClr val="FFFFFF"/>
                </a:solidFill>
                <a:latin typeface="Calibri"/>
              </a:rPr>
              <a:t>The same pattern can support certificates, gaming, and construction apps.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49240"/>
            <a:ext cx="1920240" cy="5943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0F172A"/>
                </a:solidFill>
                <a:latin typeface="Calibri"/>
              </a:rPr>
              <a:t>Thank you · Q&amp;A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6144768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Asif Saeed · Università degli Studi dell’Aquila</a:t>
            </a:r>
          </a:p>
        </p:txBody>
      </p:sp>
      <p:pic>
        <p:nvPicPr>
          <p:cNvPr id="13" name="Google Shape;90;p1">
            <a:extLst>
              <a:ext uri="{FF2B5EF4-FFF2-40B4-BE49-F238E27FC236}">
                <a16:creationId xmlns:a16="http://schemas.microsoft.com/office/drawing/2014/main" id="{ECEF3E7F-98A5-4796-9FCD-1D62100A1AD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903" b="13074"/>
          <a:stretch/>
        </p:blipFill>
        <p:spPr>
          <a:xfrm>
            <a:off x="6449238" y="984723"/>
            <a:ext cx="4167153" cy="1415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 descr="&#10;">
            <a:extLst>
              <a:ext uri="{FF2B5EF4-FFF2-40B4-BE49-F238E27FC236}">
                <a16:creationId xmlns:a16="http://schemas.microsoft.com/office/drawing/2014/main" id="{268597B5-E419-4AE7-BA92-F7CC9C4BCD8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r="42379"/>
          <a:stretch/>
        </p:blipFill>
        <p:spPr>
          <a:xfrm>
            <a:off x="7682948" y="2762943"/>
            <a:ext cx="1606711" cy="162420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970F619-E40D-4808-A7E9-87F6B1D98DC5}"/>
              </a:ext>
            </a:extLst>
          </p:cNvPr>
          <p:cNvSpPr txBox="1"/>
          <p:nvPr/>
        </p:nvSpPr>
        <p:spPr>
          <a:xfrm>
            <a:off x="9372600" y="1369304"/>
            <a:ext cx="21883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 err="1">
                <a:solidFill>
                  <a:schemeClr val="bg1"/>
                </a:solidFill>
              </a:rPr>
              <a:t>Università</a:t>
            </a:r>
            <a:r>
              <a:rPr lang="en-US" altLang="en-US" b="1" dirty="0">
                <a:solidFill>
                  <a:schemeClr val="bg1"/>
                </a:solidFill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</a:rPr>
              <a:t>degli</a:t>
            </a:r>
            <a:r>
              <a:rPr lang="en-US" altLang="en-US" b="1" dirty="0">
                <a:solidFill>
                  <a:schemeClr val="bg1"/>
                </a:solidFill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</a:rPr>
              <a:t>Studi</a:t>
            </a:r>
            <a:r>
              <a:rPr lang="en-US" altLang="en-US" b="1" dirty="0">
                <a:solidFill>
                  <a:schemeClr val="bg1"/>
                </a:solidFill>
              </a:rPr>
              <a:t> </a:t>
            </a:r>
            <a:r>
              <a:rPr lang="en-US" altLang="en-US" b="1" dirty="0" err="1">
                <a:solidFill>
                  <a:schemeClr val="bg1"/>
                </a:solidFill>
              </a:rPr>
              <a:t>dell’Aquila</a:t>
            </a:r>
            <a:endParaRPr lang="en-US" alt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52498E-CA99-4FD0-A336-0F4DAD538296}"/>
              </a:ext>
            </a:extLst>
          </p:cNvPr>
          <p:cNvSpPr txBox="1"/>
          <p:nvPr/>
        </p:nvSpPr>
        <p:spPr>
          <a:xfrm>
            <a:off x="9289659" y="2913323"/>
            <a:ext cx="284897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chemeClr val="bg1"/>
                </a:solidFill>
              </a:rPr>
              <a:t>DISIM</a:t>
            </a:r>
            <a:br>
              <a:rPr lang="en-GB" sz="1600" dirty="0">
                <a:solidFill>
                  <a:schemeClr val="bg1"/>
                </a:solidFill>
              </a:rPr>
            </a:br>
            <a:r>
              <a:rPr lang="en-GB" sz="1600" dirty="0">
                <a:solidFill>
                  <a:schemeClr val="bg1"/>
                </a:solidFill>
              </a:rPr>
              <a:t>Department of Information Engineering,</a:t>
            </a:r>
            <a:br>
              <a:rPr lang="en-GB" sz="1600" dirty="0">
                <a:solidFill>
                  <a:schemeClr val="bg1"/>
                </a:solidFill>
              </a:rPr>
            </a:br>
            <a:r>
              <a:rPr lang="en-GB" sz="1600" dirty="0">
                <a:solidFill>
                  <a:schemeClr val="bg1"/>
                </a:solidFill>
              </a:rPr>
              <a:t>Computer Science and Mathematics</a:t>
            </a: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E49838C1-D783-4464-A501-77B6A1AE3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2948" y="4693359"/>
            <a:ext cx="4051789" cy="1323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777</TotalTime>
  <Words>868</Words>
  <Application>Microsoft Office PowerPoint</Application>
  <PresentationFormat>Widescreen</PresentationFormat>
  <Paragraphs>148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Asif Saeed</dc:creator>
  <cp:keywords/>
  <dc:description>generated using python-pptx</dc:description>
  <cp:lastModifiedBy>Asif Saeed</cp:lastModifiedBy>
  <cp:revision>17</cp:revision>
  <dcterms:created xsi:type="dcterms:W3CDTF">2013-01-27T09:14:16Z</dcterms:created>
  <dcterms:modified xsi:type="dcterms:W3CDTF">2026-06-08T11:42:52Z</dcterms:modified>
  <cp:category/>
</cp:coreProperties>
</file>